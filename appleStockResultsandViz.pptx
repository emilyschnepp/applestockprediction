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5" r:id="rId2"/>
    <p:sldId id="261" r:id="rId3"/>
    <p:sldId id="260" r:id="rId4"/>
    <p:sldId id="264" r:id="rId5"/>
    <p:sldId id="258" r:id="rId6"/>
    <p:sldId id="257" r:id="rId7"/>
    <p:sldId id="259"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5EF3B-B653-40B3-9F86-8AC38326967B}" v="4" dt="2024-09-19T16:04:05.9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120"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36CD75-2E92-4BD4-A3A2-4E7ED7FF5AE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2249011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36CD75-2E92-4BD4-A3A2-4E7ED7FF5AE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34489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36CD75-2E92-4BD4-A3A2-4E7ED7FF5AE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3594665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36CD75-2E92-4BD4-A3A2-4E7ED7FF5AEB}"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2610090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36CD75-2E92-4BD4-A3A2-4E7ED7FF5AEB}"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2448926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36CD75-2E92-4BD4-A3A2-4E7ED7FF5AEB}"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1600150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36CD75-2E92-4BD4-A3A2-4E7ED7FF5AEB}"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3472246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36CD75-2E92-4BD4-A3A2-4E7ED7FF5AEB}"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793045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36CD75-2E92-4BD4-A3A2-4E7ED7FF5AEB}"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2491463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36CD75-2E92-4BD4-A3A2-4E7ED7FF5AE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1393811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36CD75-2E92-4BD4-A3A2-4E7ED7FF5AE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39E0E2-AF4F-4372-BED9-C01877A9D29A}" type="slidenum">
              <a:rPr lang="en-US" smtClean="0"/>
              <a:t>‹#›</a:t>
            </a:fld>
            <a:endParaRPr lang="en-US"/>
          </a:p>
        </p:txBody>
      </p:sp>
    </p:spTree>
    <p:extLst>
      <p:ext uri="{BB962C8B-B14F-4D97-AF65-F5344CB8AC3E}">
        <p14:creationId xmlns:p14="http://schemas.microsoft.com/office/powerpoint/2010/main" val="792084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36CD75-2E92-4BD4-A3A2-4E7ED7FF5AEB}" type="datetimeFigureOut">
              <a:rPr lang="en-US" smtClean="0"/>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39E0E2-AF4F-4372-BED9-C01877A9D29A}" type="slidenum">
              <a:rPr lang="en-US" smtClean="0"/>
              <a:t>‹#›</a:t>
            </a:fld>
            <a:endParaRPr lang="en-US"/>
          </a:p>
        </p:txBody>
      </p:sp>
    </p:spTree>
    <p:extLst>
      <p:ext uri="{BB962C8B-B14F-4D97-AF65-F5344CB8AC3E}">
        <p14:creationId xmlns:p14="http://schemas.microsoft.com/office/powerpoint/2010/main" val="395822462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E4490F-7A7B-FD4F-64E0-84D68EECC179}"/>
              </a:ext>
            </a:extLst>
          </p:cNvPr>
          <p:cNvSpPr>
            <a:spLocks noGrp="1"/>
          </p:cNvSpPr>
          <p:nvPr>
            <p:ph type="ctrTitle"/>
          </p:nvPr>
        </p:nvSpPr>
        <p:spPr>
          <a:xfrm>
            <a:off x="1127208" y="857251"/>
            <a:ext cx="4747280" cy="3098061"/>
          </a:xfrm>
        </p:spPr>
        <p:txBody>
          <a:bodyPr anchor="b">
            <a:normAutofit/>
          </a:bodyPr>
          <a:lstStyle/>
          <a:p>
            <a:r>
              <a:rPr lang="en-US" sz="4800" dirty="0">
                <a:solidFill>
                  <a:srgbClr val="FFFFFF"/>
                </a:solidFill>
              </a:rPr>
              <a:t>LSTM Stock Price Prediction Visualizations and Results</a:t>
            </a:r>
          </a:p>
        </p:txBody>
      </p:sp>
      <p:sp>
        <p:nvSpPr>
          <p:cNvPr id="25" name="Rectangle 24">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0DC8451-665E-B2B6-8D42-15888F3AA5DC}"/>
              </a:ext>
            </a:extLst>
          </p:cNvPr>
          <p:cNvSpPr>
            <a:spLocks noGrp="1"/>
          </p:cNvSpPr>
          <p:nvPr>
            <p:ph type="subTitle" idx="1"/>
          </p:nvPr>
        </p:nvSpPr>
        <p:spPr>
          <a:xfrm>
            <a:off x="1127208" y="4756265"/>
            <a:ext cx="4393278" cy="1244483"/>
          </a:xfrm>
        </p:spPr>
        <p:txBody>
          <a:bodyPr anchor="t">
            <a:normAutofit/>
          </a:bodyPr>
          <a:lstStyle/>
          <a:p>
            <a:r>
              <a:rPr lang="en-US" sz="1500" dirty="0">
                <a:solidFill>
                  <a:srgbClr val="FFFFFF"/>
                </a:solidFill>
              </a:rPr>
              <a:t>Using LSTM Models to Accurately Predict Apple Stock Prices (2008-2021)</a:t>
            </a:r>
          </a:p>
          <a:p>
            <a:endParaRPr lang="en-US" sz="1500" dirty="0">
              <a:solidFill>
                <a:srgbClr val="FFFFFF"/>
              </a:solidFill>
            </a:endParaRPr>
          </a:p>
          <a:p>
            <a:r>
              <a:rPr lang="en-US" sz="1500" dirty="0">
                <a:solidFill>
                  <a:srgbClr val="FFFFFF"/>
                </a:solidFill>
              </a:rPr>
              <a:t>by Emily Buchanan-Schnepp</a:t>
            </a:r>
          </a:p>
        </p:txBody>
      </p:sp>
      <p:sp>
        <p:nvSpPr>
          <p:cNvPr id="27" name="Oval 26">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Upward trend">
            <a:extLst>
              <a:ext uri="{FF2B5EF4-FFF2-40B4-BE49-F238E27FC236}">
                <a16:creationId xmlns:a16="http://schemas.microsoft.com/office/drawing/2014/main" id="{3C36D471-49B7-A48C-8CE8-9EBFE9EA1D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61874" y="2108877"/>
            <a:ext cx="2654533" cy="2654533"/>
          </a:xfrm>
          <a:prstGeom prst="rect">
            <a:avLst/>
          </a:prstGeom>
        </p:spPr>
      </p:pic>
    </p:spTree>
    <p:extLst>
      <p:ext uri="{BB962C8B-B14F-4D97-AF65-F5344CB8AC3E}">
        <p14:creationId xmlns:p14="http://schemas.microsoft.com/office/powerpoint/2010/main" val="2992466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3" name="Rectangle 392">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89959B-0912-6D49-A89B-0B866556F0C3}"/>
              </a:ext>
            </a:extLst>
          </p:cNvPr>
          <p:cNvSpPr>
            <a:spLocks noGrp="1"/>
          </p:cNvSpPr>
          <p:nvPr>
            <p:ph type="title"/>
          </p:nvPr>
        </p:nvSpPr>
        <p:spPr>
          <a:xfrm>
            <a:off x="1136397" y="502020"/>
            <a:ext cx="5323715" cy="1642970"/>
          </a:xfrm>
        </p:spPr>
        <p:txBody>
          <a:bodyPr anchor="b">
            <a:normAutofit/>
          </a:bodyPr>
          <a:lstStyle/>
          <a:p>
            <a:r>
              <a:rPr lang="en-US" sz="4000" dirty="0"/>
              <a:t>Introduction</a:t>
            </a:r>
          </a:p>
        </p:txBody>
      </p:sp>
      <p:sp>
        <p:nvSpPr>
          <p:cNvPr id="3" name="Content Placeholder 2">
            <a:extLst>
              <a:ext uri="{FF2B5EF4-FFF2-40B4-BE49-F238E27FC236}">
                <a16:creationId xmlns:a16="http://schemas.microsoft.com/office/drawing/2014/main" id="{7C960F39-7960-284A-CF2F-9437DAFF258E}"/>
              </a:ext>
            </a:extLst>
          </p:cNvPr>
          <p:cNvSpPr>
            <a:spLocks noGrp="1"/>
          </p:cNvSpPr>
          <p:nvPr>
            <p:ph idx="1"/>
          </p:nvPr>
        </p:nvSpPr>
        <p:spPr>
          <a:xfrm>
            <a:off x="1144923" y="2405894"/>
            <a:ext cx="5315189" cy="3535083"/>
          </a:xfrm>
        </p:spPr>
        <p:txBody>
          <a:bodyPr anchor="t">
            <a:normAutofit/>
          </a:bodyPr>
          <a:lstStyle/>
          <a:p>
            <a:pPr marL="0" indent="0">
              <a:buNone/>
            </a:pPr>
            <a:r>
              <a:rPr lang="en-US" sz="2000" dirty="0"/>
              <a:t>This project uses advanced learning models (LSTM) to predict Apple stock prices, training on data from 2008-2017 and evaluating performance on data from 2018-2021. By integrating competitor data (Google stock performance), we explored how market dynamics between smartphone rivals influence stock prices. These insights demonstrate the value of leveraging existing factors to improve accuracy and support businesses navigating competitive industries.</a:t>
            </a:r>
          </a:p>
        </p:txBody>
      </p:sp>
      <p:sp>
        <p:nvSpPr>
          <p:cNvPr id="395" name="Rectangle 394">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9" name="Rectangle 398">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1" name="Rectangle 400">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4" name="Graphic 363" descr="Apple">
            <a:extLst>
              <a:ext uri="{FF2B5EF4-FFF2-40B4-BE49-F238E27FC236}">
                <a16:creationId xmlns:a16="http://schemas.microsoft.com/office/drawing/2014/main" id="{2CD636D9-AB74-0EBA-4B32-3BB1392F3F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75967" y="1359681"/>
            <a:ext cx="4170530" cy="4170530"/>
          </a:xfrm>
          <a:prstGeom prst="rect">
            <a:avLst/>
          </a:prstGeom>
        </p:spPr>
      </p:pic>
    </p:spTree>
    <p:extLst>
      <p:ext uri="{BB962C8B-B14F-4D97-AF65-F5344CB8AC3E}">
        <p14:creationId xmlns:p14="http://schemas.microsoft.com/office/powerpoint/2010/main" val="358053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45" name="Rectangle 414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9AECE31-7D7D-34B5-9306-576565D97C5B}"/>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4000" kern="1200">
                <a:solidFill>
                  <a:schemeClr val="tx1"/>
                </a:solidFill>
                <a:latin typeface="+mj-lt"/>
                <a:ea typeface="+mj-ea"/>
                <a:cs typeface="+mj-cs"/>
              </a:rPr>
              <a:t>Google and Apple Stock Prices Over Time</a:t>
            </a:r>
          </a:p>
        </p:txBody>
      </p:sp>
      <p:sp>
        <p:nvSpPr>
          <p:cNvPr id="5" name="TextBox 4">
            <a:extLst>
              <a:ext uri="{FF2B5EF4-FFF2-40B4-BE49-F238E27FC236}">
                <a16:creationId xmlns:a16="http://schemas.microsoft.com/office/drawing/2014/main" id="{8B84E03D-9929-F125-306A-BE17A71D9A13}"/>
              </a:ext>
            </a:extLst>
          </p:cNvPr>
          <p:cNvSpPr txBox="1"/>
          <p:nvPr/>
        </p:nvSpPr>
        <p:spPr>
          <a:xfrm>
            <a:off x="1144923" y="3228617"/>
            <a:ext cx="5315189" cy="1368438"/>
          </a:xfrm>
          <a:prstGeom prst="rect">
            <a:avLst/>
          </a:prstGeom>
        </p:spPr>
        <p:txBody>
          <a:bodyPr vert="horz" lIns="91440" tIns="45720" rIns="91440" bIns="45720" rtlCol="0" anchor="t">
            <a:normAutofit/>
          </a:bodyPr>
          <a:lstStyle/>
          <a:p>
            <a:pPr marL="285750" indent="-228600" defTabSz="914400">
              <a:lnSpc>
                <a:spcPct val="90000"/>
              </a:lnSpc>
              <a:spcAft>
                <a:spcPts val="600"/>
              </a:spcAft>
              <a:buFont typeface="Arial" panose="020B0604020202020204" pitchFamily="34" charset="0"/>
              <a:buChar char="•"/>
            </a:pPr>
            <a:r>
              <a:rPr lang="en-US" sz="2000" dirty="0"/>
              <a:t>Before 2020, Google stock outperformed Apple’s. In 2020, Apple prices surpassed Google’s, showing competitor influence and justifying the inclusion of Google data. </a:t>
            </a:r>
          </a:p>
        </p:txBody>
      </p:sp>
      <p:sp>
        <p:nvSpPr>
          <p:cNvPr id="4147" name="Rectangle 414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9" name="Rectangle 414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51" name="Rectangle 415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53" name="Rectangle 415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305664CF-E6BA-0D1C-B5F5-62C6AF71D4D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75967" y="2292838"/>
            <a:ext cx="4170530" cy="2304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355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5" name="Rectangle 5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Shape 6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Rectangle 6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FE717D-B5C1-FD68-153F-DB63A654C721}"/>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Model Overviews</a:t>
            </a:r>
          </a:p>
        </p:txBody>
      </p:sp>
      <p:sp>
        <p:nvSpPr>
          <p:cNvPr id="5" name="TextBox 4">
            <a:extLst>
              <a:ext uri="{FF2B5EF4-FFF2-40B4-BE49-F238E27FC236}">
                <a16:creationId xmlns:a16="http://schemas.microsoft.com/office/drawing/2014/main" id="{9BAC311A-D637-7D5B-8B27-9CB6ED46FDEA}"/>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lvl="0" defTabSz="914400">
              <a:lnSpc>
                <a:spcPct val="90000"/>
              </a:lnSpc>
              <a:spcAft>
                <a:spcPts val="600"/>
              </a:spcAft>
            </a:pPr>
            <a:r>
              <a:rPr lang="en-US" sz="2000" dirty="0"/>
              <a:t>Three models were tested to predict Apple’s future ‘Close’ price, each progressively increasing in complexity: </a:t>
            </a:r>
          </a:p>
          <a:p>
            <a:pPr marL="342900" lvl="0" indent="-228600" defTabSz="914400">
              <a:lnSpc>
                <a:spcPct val="90000"/>
              </a:lnSpc>
              <a:spcAft>
                <a:spcPts val="600"/>
              </a:spcAft>
              <a:buFont typeface="Arial" panose="020B0604020202020204" pitchFamily="34" charset="0"/>
              <a:buChar char="•"/>
            </a:pPr>
            <a:r>
              <a:rPr lang="en-US" sz="2000" dirty="0"/>
              <a:t>Model 1: A baseline model using only Apple’s historic ‘Close’ price for prediction.</a:t>
            </a:r>
          </a:p>
          <a:p>
            <a:pPr marL="342900" lvl="0" indent="-228600" defTabSz="914400">
              <a:lnSpc>
                <a:spcPct val="90000"/>
              </a:lnSpc>
              <a:spcAft>
                <a:spcPts val="600"/>
              </a:spcAft>
              <a:buFont typeface="Arial" panose="020B0604020202020204" pitchFamily="34" charset="0"/>
              <a:buChar char="•"/>
            </a:pPr>
            <a:r>
              <a:rPr lang="en-US" sz="2000" dirty="0"/>
              <a:t>Model 2: A more complex model using additional Apple-specific variables.</a:t>
            </a:r>
          </a:p>
          <a:p>
            <a:pPr marL="342900" lvl="0" indent="-228600" defTabSz="914400">
              <a:lnSpc>
                <a:spcPct val="90000"/>
              </a:lnSpc>
              <a:spcAft>
                <a:spcPts val="600"/>
              </a:spcAft>
              <a:buFont typeface="Arial" panose="020B0604020202020204" pitchFamily="34" charset="0"/>
              <a:buChar char="•"/>
            </a:pPr>
            <a:r>
              <a:rPr lang="en-US" sz="2000" dirty="0"/>
              <a:t>Model 3: An advanced model integrating Google Stock data to account for competition.</a:t>
            </a:r>
          </a:p>
        </p:txBody>
      </p:sp>
    </p:spTree>
    <p:extLst>
      <p:ext uri="{BB962C8B-B14F-4D97-AF65-F5344CB8AC3E}">
        <p14:creationId xmlns:p14="http://schemas.microsoft.com/office/powerpoint/2010/main" val="3336638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33" name="Rectangle 2132">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35" name="Group 2134">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2136" name="Rectangle 2135">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7" name="Rectangle 2136">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38" name="Rectangle 2137">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C3DA5D6-6FF1-650F-D2F9-2455EDC61DBC}"/>
              </a:ext>
            </a:extLst>
          </p:cNvPr>
          <p:cNvSpPr txBox="1">
            <a:spLocks/>
          </p:cNvSpPr>
          <p:nvPr/>
        </p:nvSpPr>
        <p:spPr>
          <a:xfrm>
            <a:off x="1371600" y="407695"/>
            <a:ext cx="9724030" cy="8342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4000" dirty="0">
                <a:solidFill>
                  <a:srgbClr val="FFFFFF"/>
                </a:solidFill>
              </a:rPr>
              <a:t>Learning Curves</a:t>
            </a:r>
          </a:p>
        </p:txBody>
      </p:sp>
      <p:pic>
        <p:nvPicPr>
          <p:cNvPr id="6" name="Picture 6" descr="A graph of a graph&#10;&#10;Description automatically generated">
            <a:extLst>
              <a:ext uri="{FF2B5EF4-FFF2-40B4-BE49-F238E27FC236}">
                <a16:creationId xmlns:a16="http://schemas.microsoft.com/office/drawing/2014/main" id="{09BCA32F-66A9-F45F-2F4F-3C737333B7C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99549" y="2200459"/>
            <a:ext cx="2779153" cy="21330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graph of a graph&#10;&#10;Description automatically generated">
            <a:extLst>
              <a:ext uri="{FF2B5EF4-FFF2-40B4-BE49-F238E27FC236}">
                <a16:creationId xmlns:a16="http://schemas.microsoft.com/office/drawing/2014/main" id="{5307791C-C34C-E6F7-0397-5B789CCC4F7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13221" y="2200459"/>
            <a:ext cx="2779153" cy="21330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 graph of a graph&#10;&#10;Description automatically generated">
            <a:extLst>
              <a:ext uri="{FF2B5EF4-FFF2-40B4-BE49-F238E27FC236}">
                <a16:creationId xmlns:a16="http://schemas.microsoft.com/office/drawing/2014/main" id="{87F9AC67-056C-94BA-6A79-3E3C355F088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913295" y="2200459"/>
            <a:ext cx="2779153" cy="21330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49B42A-7DEC-1FF1-28EC-355CF3F7F60D}"/>
              </a:ext>
            </a:extLst>
          </p:cNvPr>
          <p:cNvSpPr txBox="1"/>
          <p:nvPr/>
        </p:nvSpPr>
        <p:spPr>
          <a:xfrm>
            <a:off x="1371601" y="4786744"/>
            <a:ext cx="9448800" cy="1442631"/>
          </a:xfrm>
          <a:prstGeom prst="rect">
            <a:avLst/>
          </a:prstGeom>
        </p:spPr>
        <p:txBody>
          <a:bodyPr vert="horz" lIns="91440" tIns="45720" rIns="91440" bIns="45720" rtlCol="0">
            <a:normAutofit/>
          </a:bodyPr>
          <a:lstStyle/>
          <a:p>
            <a:pPr marL="285750" indent="-228600" defTabSz="914400">
              <a:lnSpc>
                <a:spcPct val="90000"/>
              </a:lnSpc>
              <a:spcAft>
                <a:spcPts val="600"/>
              </a:spcAft>
              <a:buFont typeface="Arial" panose="020B0604020202020204" pitchFamily="34" charset="0"/>
              <a:buChar char="•"/>
            </a:pPr>
            <a:r>
              <a:rPr lang="en-US" sz="2000"/>
              <a:t>Model 3 required more training due to added complexity, but achieved the best overall performance, demonstrating the value of integrating competitor data.</a:t>
            </a:r>
          </a:p>
        </p:txBody>
      </p:sp>
    </p:spTree>
    <p:extLst>
      <p:ext uri="{BB962C8B-B14F-4D97-AF65-F5344CB8AC3E}">
        <p14:creationId xmlns:p14="http://schemas.microsoft.com/office/powerpoint/2010/main" val="1093312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2">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5" name="Group 3084">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3086" name="Rectangle 3085">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8" name="Rectangle 3087">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1">
            <a:extLst>
              <a:ext uri="{FF2B5EF4-FFF2-40B4-BE49-F238E27FC236}">
                <a16:creationId xmlns:a16="http://schemas.microsoft.com/office/drawing/2014/main" id="{91013661-C84B-40B7-ACEF-7919E74A1FBF}"/>
              </a:ext>
            </a:extLst>
          </p:cNvPr>
          <p:cNvSpPr txBox="1">
            <a:spLocks/>
          </p:cNvSpPr>
          <p:nvPr/>
        </p:nvSpPr>
        <p:spPr>
          <a:xfrm>
            <a:off x="1371600" y="407695"/>
            <a:ext cx="9724030" cy="8342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4000" dirty="0">
                <a:solidFill>
                  <a:srgbClr val="FFFFFF"/>
                </a:solidFill>
              </a:rPr>
              <a:t>Line Graphs of Predicted vs Actual</a:t>
            </a:r>
          </a:p>
        </p:txBody>
      </p:sp>
      <p:pic>
        <p:nvPicPr>
          <p:cNvPr id="3076" name="Picture 4" descr="A graph showing the value of a stock market&#10;&#10;Description automatically generated">
            <a:extLst>
              <a:ext uri="{FF2B5EF4-FFF2-40B4-BE49-F238E27FC236}">
                <a16:creationId xmlns:a16="http://schemas.microsoft.com/office/drawing/2014/main" id="{BAAFA876-61E2-D167-E350-1592F09848C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6889" y="2200459"/>
            <a:ext cx="3061813" cy="210499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 graph with numbers and a line&#10;&#10;Description automatically generated">
            <a:extLst>
              <a:ext uri="{FF2B5EF4-FFF2-40B4-BE49-F238E27FC236}">
                <a16:creationId xmlns:a16="http://schemas.microsoft.com/office/drawing/2014/main" id="{6D5DCD01-8C48-3A94-F2D5-D79D37461C0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99296" y="2200459"/>
            <a:ext cx="3007003" cy="208234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 graph showing the value of a stock market&#10;&#10;Description automatically generated">
            <a:extLst>
              <a:ext uri="{FF2B5EF4-FFF2-40B4-BE49-F238E27FC236}">
                <a16:creationId xmlns:a16="http://schemas.microsoft.com/office/drawing/2014/main" id="{63EDDAE2-5FEE-DBE8-A4D1-AD0F1BFAF94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913295" y="2200459"/>
            <a:ext cx="3061813" cy="21049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284920D-BC07-9AE5-7DFB-F9D29C7BC79A}"/>
              </a:ext>
            </a:extLst>
          </p:cNvPr>
          <p:cNvSpPr txBox="1"/>
          <p:nvPr/>
        </p:nvSpPr>
        <p:spPr>
          <a:xfrm>
            <a:off x="1371601" y="4786744"/>
            <a:ext cx="9448800" cy="1442631"/>
          </a:xfrm>
          <a:prstGeom prst="rect">
            <a:avLst/>
          </a:prstGeom>
        </p:spPr>
        <p:txBody>
          <a:bodyPr vert="horz" lIns="91440" tIns="45720" rIns="91440" bIns="45720" rtlCol="0">
            <a:normAutofit/>
          </a:bodyPr>
          <a:lstStyle/>
          <a:p>
            <a:pPr marL="285750" indent="-228600" defTabSz="914400">
              <a:lnSpc>
                <a:spcPct val="90000"/>
              </a:lnSpc>
              <a:spcAft>
                <a:spcPts val="600"/>
              </a:spcAft>
              <a:buFont typeface="Arial" panose="020B0604020202020204" pitchFamily="34" charset="0"/>
              <a:buChar char="•"/>
            </a:pPr>
            <a:r>
              <a:rPr lang="en-US" sz="2000"/>
              <a:t>Model 3 closely matches actual prices, especially in the short term, making it the most effective for real-world financial forecasting.</a:t>
            </a:r>
          </a:p>
        </p:txBody>
      </p:sp>
    </p:spTree>
    <p:extLst>
      <p:ext uri="{BB962C8B-B14F-4D97-AF65-F5344CB8AC3E}">
        <p14:creationId xmlns:p14="http://schemas.microsoft.com/office/powerpoint/2010/main" val="3338604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59A2B651-35E2-A073-1307-92A5336CBF28}"/>
              </a:ext>
            </a:extLst>
          </p:cNvPr>
          <p:cNvSpPr txBox="1">
            <a:spLocks/>
          </p:cNvSpPr>
          <p:nvPr/>
        </p:nvSpPr>
        <p:spPr>
          <a:xfrm>
            <a:off x="466722" y="586855"/>
            <a:ext cx="3201366" cy="338749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Aft>
                <a:spcPts val="600"/>
              </a:spcAft>
            </a:pPr>
            <a:endParaRPr lang="en-US" sz="4000" kern="1200">
              <a:solidFill>
                <a:srgbClr val="FFFFFF"/>
              </a:solidFill>
              <a:latin typeface="+mj-lt"/>
              <a:ea typeface="+mj-ea"/>
              <a:cs typeface="+mj-cs"/>
            </a:endParaRPr>
          </a:p>
          <a:p>
            <a:pPr algn="r">
              <a:spcAft>
                <a:spcPts val="600"/>
              </a:spcAft>
            </a:pPr>
            <a:r>
              <a:rPr lang="en-US" sz="4000" kern="1200">
                <a:solidFill>
                  <a:srgbClr val="FFFFFF"/>
                </a:solidFill>
                <a:latin typeface="+mj-lt"/>
                <a:ea typeface="+mj-ea"/>
                <a:cs typeface="+mj-cs"/>
              </a:rPr>
              <a:t>Results</a:t>
            </a:r>
          </a:p>
        </p:txBody>
      </p:sp>
      <p:sp>
        <p:nvSpPr>
          <p:cNvPr id="9" name="TextBox 8">
            <a:extLst>
              <a:ext uri="{FF2B5EF4-FFF2-40B4-BE49-F238E27FC236}">
                <a16:creationId xmlns:a16="http://schemas.microsoft.com/office/drawing/2014/main" id="{8FCDC436-B9A9-90A1-2F2B-68011A329D4F}"/>
              </a:ext>
            </a:extLst>
          </p:cNvPr>
          <p:cNvSpPr txBox="1"/>
          <p:nvPr/>
        </p:nvSpPr>
        <p:spPr>
          <a:xfrm>
            <a:off x="4698858" y="470258"/>
            <a:ext cx="6555347" cy="2877491"/>
          </a:xfrm>
          <a:prstGeom prst="rect">
            <a:avLst/>
          </a:prstGeom>
        </p:spPr>
        <p:txBody>
          <a:bodyPr vert="horz" lIns="91440" tIns="45720" rIns="91440" bIns="45720" rtlCol="0" anchor="ctr">
            <a:normAutofit/>
          </a:bodyPr>
          <a:lstStyle/>
          <a:p>
            <a:pPr marL="285750" indent="-228600" defTabSz="914400">
              <a:lnSpc>
                <a:spcPct val="90000"/>
              </a:lnSpc>
              <a:spcAft>
                <a:spcPts val="600"/>
              </a:spcAft>
              <a:buFont typeface="Arial" panose="020B0604020202020204" pitchFamily="34" charset="0"/>
              <a:buChar char="•"/>
            </a:pPr>
            <a:r>
              <a:rPr lang="en-US" sz="2000" dirty="0"/>
              <a:t>Model 3’s accuracy demonstrates the value of understanding competitor relationships. Businesses in competitive industries can use these insights to better anticipate market trends and refine strategies.</a:t>
            </a:r>
          </a:p>
          <a:p>
            <a:pPr marL="285750" indent="-228600" defTabSz="914400">
              <a:lnSpc>
                <a:spcPct val="90000"/>
              </a:lnSpc>
              <a:spcAft>
                <a:spcPts val="600"/>
              </a:spcAft>
              <a:buFont typeface="Arial" panose="020B0604020202020204" pitchFamily="34" charset="0"/>
              <a:buChar char="•"/>
            </a:pPr>
            <a:endParaRPr lang="en-US" sz="2000" dirty="0"/>
          </a:p>
          <a:p>
            <a:pPr marL="285750" indent="-228600" defTabSz="914400">
              <a:lnSpc>
                <a:spcPct val="90000"/>
              </a:lnSpc>
              <a:spcAft>
                <a:spcPts val="600"/>
              </a:spcAft>
              <a:buFont typeface="Arial" panose="020B0604020202020204" pitchFamily="34" charset="0"/>
              <a:buChar char="•"/>
            </a:pPr>
            <a:r>
              <a:rPr lang="en-US" sz="2000" dirty="0"/>
              <a:t>Model 3 outperforms all others with the lowest error (Test RMSE ~ 0.56, within $1 of actual prices) and minimal overfitting, making it ideal for practical use.</a:t>
            </a:r>
          </a:p>
        </p:txBody>
      </p:sp>
      <p:pic>
        <p:nvPicPr>
          <p:cNvPr id="1026" name="Picture 2" descr="User uploaded image">
            <a:extLst>
              <a:ext uri="{FF2B5EF4-FFF2-40B4-BE49-F238E27FC236}">
                <a16:creationId xmlns:a16="http://schemas.microsoft.com/office/drawing/2014/main" id="{2A85D1A1-436C-03BB-1B0A-6970D1639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1496" y="3626600"/>
            <a:ext cx="7722544" cy="1066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ser uploaded image">
            <a:extLst>
              <a:ext uri="{FF2B5EF4-FFF2-40B4-BE49-F238E27FC236}">
                <a16:creationId xmlns:a16="http://schemas.microsoft.com/office/drawing/2014/main" id="{76AEF460-7262-E666-0342-6BF6B78869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1496" y="4791565"/>
            <a:ext cx="7746043" cy="7810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ser uploaded image">
            <a:extLst>
              <a:ext uri="{FF2B5EF4-FFF2-40B4-BE49-F238E27FC236}">
                <a16:creationId xmlns:a16="http://schemas.microsoft.com/office/drawing/2014/main" id="{5D2DD46A-2E66-BBA0-93F2-F0880CF5B3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1496" y="5768945"/>
            <a:ext cx="7746043" cy="78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536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2" name="Rectangle 20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4" name="Rectangle 20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Freeform: Shape 21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4" name="Rectangle 21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787284-22B3-D435-87DB-680335877D05}"/>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Conclusion</a:t>
            </a:r>
          </a:p>
        </p:txBody>
      </p:sp>
      <p:sp>
        <p:nvSpPr>
          <p:cNvPr id="3" name="Content Placeholder 2">
            <a:extLst>
              <a:ext uri="{FF2B5EF4-FFF2-40B4-BE49-F238E27FC236}">
                <a16:creationId xmlns:a16="http://schemas.microsoft.com/office/drawing/2014/main" id="{9DE338C6-0596-F694-7E4D-76A12A504693}"/>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2000" kern="1200">
                <a:latin typeface="+mn-lt"/>
                <a:ea typeface="+mn-ea"/>
                <a:cs typeface="+mn-cs"/>
              </a:rPr>
              <a:t>This project highlights the importance of external factors, like competitor performance, in forecasting. For businesses, especially in tech, these models can support better decision-making, from investment strategies to understanding market dynamics.</a:t>
            </a:r>
          </a:p>
          <a:p>
            <a:pPr marL="0" indent="0">
              <a:buNone/>
            </a:pPr>
            <a:endParaRPr lang="en-US" sz="2000" kern="1200">
              <a:latin typeface="+mn-lt"/>
              <a:ea typeface="+mn-ea"/>
              <a:cs typeface="+mn-cs"/>
            </a:endParaRPr>
          </a:p>
          <a:p>
            <a:pPr marL="0" indent="0">
              <a:buNone/>
            </a:pPr>
            <a:r>
              <a:rPr lang="en-US" sz="2000" kern="1200">
                <a:latin typeface="+mn-lt"/>
                <a:ea typeface="+mn-ea"/>
                <a:cs typeface="+mn-cs"/>
              </a:rPr>
              <a:t>Including Google Data in Model 3 significantly improved prediction accuracy and reduced overfitting, showing how external marketing factors can enhance financial forecasting.</a:t>
            </a:r>
          </a:p>
        </p:txBody>
      </p:sp>
    </p:spTree>
    <p:extLst>
      <p:ext uri="{BB962C8B-B14F-4D97-AF65-F5344CB8AC3E}">
        <p14:creationId xmlns:p14="http://schemas.microsoft.com/office/powerpoint/2010/main" val="420658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190</TotalTime>
  <Words>371</Words>
  <Application>Microsoft Office PowerPoint</Application>
  <PresentationFormat>Widescreen</PresentationFormat>
  <Paragraphs>26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LSTM Stock Price Prediction Visualizations and Results</vt:lpstr>
      <vt:lpstr>Introduction</vt:lpstr>
      <vt:lpstr>Google and Apple Stock Prices Over Time</vt:lpstr>
      <vt:lpstr>Model Overviews</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Buchanan-Schnepp</dc:creator>
  <cp:lastModifiedBy>Emily Buchanan-Schnepp</cp:lastModifiedBy>
  <cp:revision>8</cp:revision>
  <dcterms:created xsi:type="dcterms:W3CDTF">2024-09-19T15:08:28Z</dcterms:created>
  <dcterms:modified xsi:type="dcterms:W3CDTF">2025-01-19T15:26:38Z</dcterms:modified>
</cp:coreProperties>
</file>