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5" r:id="rId2"/>
    <p:sldId id="261" r:id="rId3"/>
    <p:sldId id="260" r:id="rId4"/>
    <p:sldId id="264" r:id="rId5"/>
    <p:sldId id="258" r:id="rId6"/>
    <p:sldId id="257" r:id="rId7"/>
    <p:sldId id="259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A1EDAA-E157-4A56-85E9-B01C06E4E8F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0_3" csCatId="mainScheme" phldr="1"/>
      <dgm:spPr/>
      <dgm:t>
        <a:bodyPr/>
        <a:lstStyle/>
        <a:p>
          <a:endParaRPr lang="en-US"/>
        </a:p>
      </dgm:t>
    </dgm:pt>
    <dgm:pt modelId="{721DE600-6126-4C25-B027-48FDF48E026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>
              <a:latin typeface="Helvetica" panose="020B0604020202020204" pitchFamily="34" charset="0"/>
              <a:cs typeface="Helvetica" panose="020B0604020202020204" pitchFamily="34" charset="0"/>
            </a:rPr>
            <a:t>Model 3’s accuracy demonstrates the value of understanding competitor relationships. Businesses in competitive industries can use these insights to better anticipate market trends and refine strategies.</a:t>
          </a:r>
        </a:p>
      </dgm:t>
    </dgm:pt>
    <dgm:pt modelId="{F3F70AD7-2DD4-4989-9D11-EB383F4A1310}" type="parTrans" cxnId="{6F888BF3-7212-465A-ADEE-61D71A10A979}">
      <dgm:prSet/>
      <dgm:spPr/>
      <dgm:t>
        <a:bodyPr/>
        <a:lstStyle/>
        <a:p>
          <a:endParaRPr lang="en-US"/>
        </a:p>
      </dgm:t>
    </dgm:pt>
    <dgm:pt modelId="{9D91C0B3-AD14-49FE-8D77-DCD92ADF270C}" type="sibTrans" cxnId="{6F888BF3-7212-465A-ADEE-61D71A10A97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B159634-C867-47EA-A65B-29708609960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>
              <a:latin typeface="Helvetica" panose="020B0604020202020204" pitchFamily="34" charset="0"/>
              <a:cs typeface="Helvetica" panose="020B0604020202020204" pitchFamily="34" charset="0"/>
            </a:rPr>
            <a:t>Model 3 outperforms all others with the lowest error (Test RMSE ~ 0.56, within $1 of actual prices) and minimal overfitting, making it ideal for practical use.</a:t>
          </a:r>
        </a:p>
      </dgm:t>
    </dgm:pt>
    <dgm:pt modelId="{5C2CE7FF-B53A-44FC-BE2F-99EAD782ACD2}" type="parTrans" cxnId="{E8103AA0-78B4-402B-A352-DFCAEDE7C43C}">
      <dgm:prSet/>
      <dgm:spPr/>
      <dgm:t>
        <a:bodyPr/>
        <a:lstStyle/>
        <a:p>
          <a:endParaRPr lang="en-US"/>
        </a:p>
      </dgm:t>
    </dgm:pt>
    <dgm:pt modelId="{6F13FC58-596B-4052-8ED7-6663F7D1B133}" type="sibTrans" cxnId="{E8103AA0-78B4-402B-A352-DFCAEDE7C43C}">
      <dgm:prSet/>
      <dgm:spPr/>
      <dgm:t>
        <a:bodyPr/>
        <a:lstStyle/>
        <a:p>
          <a:endParaRPr lang="en-US"/>
        </a:p>
      </dgm:t>
    </dgm:pt>
    <dgm:pt modelId="{F9FA8E78-4D5E-468D-9990-68A1B626DDE5}" type="pres">
      <dgm:prSet presAssocID="{D1A1EDAA-E157-4A56-85E9-B01C06E4E8F9}" presName="root" presStyleCnt="0">
        <dgm:presLayoutVars>
          <dgm:dir/>
          <dgm:resizeHandles val="exact"/>
        </dgm:presLayoutVars>
      </dgm:prSet>
      <dgm:spPr/>
    </dgm:pt>
    <dgm:pt modelId="{5FBFF60B-9C52-47A0-A68E-D1A36418E670}" type="pres">
      <dgm:prSet presAssocID="{D1A1EDAA-E157-4A56-85E9-B01C06E4E8F9}" presName="container" presStyleCnt="0">
        <dgm:presLayoutVars>
          <dgm:dir/>
          <dgm:resizeHandles val="exact"/>
        </dgm:presLayoutVars>
      </dgm:prSet>
      <dgm:spPr/>
    </dgm:pt>
    <dgm:pt modelId="{75A14B19-0747-4261-8351-FAB0E91BC557}" type="pres">
      <dgm:prSet presAssocID="{721DE600-6126-4C25-B027-48FDF48E0264}" presName="compNode" presStyleCnt="0"/>
      <dgm:spPr/>
    </dgm:pt>
    <dgm:pt modelId="{CDDCB386-C1C5-4B04-85CF-7037FDD00948}" type="pres">
      <dgm:prSet presAssocID="{721DE600-6126-4C25-B027-48FDF48E0264}" presName="iconBgRect" presStyleLbl="bgShp" presStyleIdx="0" presStyleCnt="2"/>
      <dgm:spPr/>
    </dgm:pt>
    <dgm:pt modelId="{7D460591-2222-428A-BB8D-AFB20459FAED}" type="pres">
      <dgm:prSet presAssocID="{721DE600-6126-4C25-B027-48FDF48E026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DBF320BA-F549-40DC-8245-304FA22FD6E1}" type="pres">
      <dgm:prSet presAssocID="{721DE600-6126-4C25-B027-48FDF48E0264}" presName="spaceRect" presStyleCnt="0"/>
      <dgm:spPr/>
    </dgm:pt>
    <dgm:pt modelId="{9297FB64-6A51-4C16-9EBC-C9E09AD193C1}" type="pres">
      <dgm:prSet presAssocID="{721DE600-6126-4C25-B027-48FDF48E0264}" presName="textRect" presStyleLbl="revTx" presStyleIdx="0" presStyleCnt="2">
        <dgm:presLayoutVars>
          <dgm:chMax val="1"/>
          <dgm:chPref val="1"/>
        </dgm:presLayoutVars>
      </dgm:prSet>
      <dgm:spPr/>
    </dgm:pt>
    <dgm:pt modelId="{0AEBF7A7-703C-4AA8-A54F-0A2ABF0F0981}" type="pres">
      <dgm:prSet presAssocID="{9D91C0B3-AD14-49FE-8D77-DCD92ADF270C}" presName="sibTrans" presStyleLbl="sibTrans2D1" presStyleIdx="0" presStyleCnt="0"/>
      <dgm:spPr/>
    </dgm:pt>
    <dgm:pt modelId="{FFCE6AB2-A2DA-4139-A193-0C5DD050831B}" type="pres">
      <dgm:prSet presAssocID="{AB159634-C867-47EA-A65B-297086099606}" presName="compNode" presStyleCnt="0"/>
      <dgm:spPr/>
    </dgm:pt>
    <dgm:pt modelId="{E75DA6F9-72DA-4FBF-8819-64924BA80597}" type="pres">
      <dgm:prSet presAssocID="{AB159634-C867-47EA-A65B-297086099606}" presName="iconBgRect" presStyleLbl="bgShp" presStyleIdx="1" presStyleCnt="2"/>
      <dgm:spPr/>
    </dgm:pt>
    <dgm:pt modelId="{4EE559E3-39B6-4C5F-9CFA-704A744DBA32}" type="pres">
      <dgm:prSet presAssocID="{AB159634-C867-47EA-A65B-29708609960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CCAEFF6B-821A-443F-BB60-A34F601A9EDC}" type="pres">
      <dgm:prSet presAssocID="{AB159634-C867-47EA-A65B-297086099606}" presName="spaceRect" presStyleCnt="0"/>
      <dgm:spPr/>
    </dgm:pt>
    <dgm:pt modelId="{1AB2E619-1ADE-4BF4-A464-968BF23A70C8}" type="pres">
      <dgm:prSet presAssocID="{AB159634-C867-47EA-A65B-297086099606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AFA8544-527A-4724-9B5D-9A25B6661BCB}" type="presOf" srcId="{721DE600-6126-4C25-B027-48FDF48E0264}" destId="{9297FB64-6A51-4C16-9EBC-C9E09AD193C1}" srcOrd="0" destOrd="0" presId="urn:microsoft.com/office/officeart/2018/2/layout/IconCircleList"/>
    <dgm:cxn modelId="{2B6AC44A-C812-47AE-9AB9-5A419FC3389B}" type="presOf" srcId="{AB159634-C867-47EA-A65B-297086099606}" destId="{1AB2E619-1ADE-4BF4-A464-968BF23A70C8}" srcOrd="0" destOrd="0" presId="urn:microsoft.com/office/officeart/2018/2/layout/IconCircleList"/>
    <dgm:cxn modelId="{E8103AA0-78B4-402B-A352-DFCAEDE7C43C}" srcId="{D1A1EDAA-E157-4A56-85E9-B01C06E4E8F9}" destId="{AB159634-C867-47EA-A65B-297086099606}" srcOrd="1" destOrd="0" parTransId="{5C2CE7FF-B53A-44FC-BE2F-99EAD782ACD2}" sibTransId="{6F13FC58-596B-4052-8ED7-6663F7D1B133}"/>
    <dgm:cxn modelId="{A628B7CB-9BCD-4E24-924E-F6D4FB189183}" type="presOf" srcId="{D1A1EDAA-E157-4A56-85E9-B01C06E4E8F9}" destId="{F9FA8E78-4D5E-468D-9990-68A1B626DDE5}" srcOrd="0" destOrd="0" presId="urn:microsoft.com/office/officeart/2018/2/layout/IconCircleList"/>
    <dgm:cxn modelId="{DEA405D9-800C-4C22-99CF-0EC1A6545C11}" type="presOf" srcId="{9D91C0B3-AD14-49FE-8D77-DCD92ADF270C}" destId="{0AEBF7A7-703C-4AA8-A54F-0A2ABF0F0981}" srcOrd="0" destOrd="0" presId="urn:microsoft.com/office/officeart/2018/2/layout/IconCircleList"/>
    <dgm:cxn modelId="{6F888BF3-7212-465A-ADEE-61D71A10A979}" srcId="{D1A1EDAA-E157-4A56-85E9-B01C06E4E8F9}" destId="{721DE600-6126-4C25-B027-48FDF48E0264}" srcOrd="0" destOrd="0" parTransId="{F3F70AD7-2DD4-4989-9D11-EB383F4A1310}" sibTransId="{9D91C0B3-AD14-49FE-8D77-DCD92ADF270C}"/>
    <dgm:cxn modelId="{523B7971-608D-473B-B8AE-BE657F8C7A14}" type="presParOf" srcId="{F9FA8E78-4D5E-468D-9990-68A1B626DDE5}" destId="{5FBFF60B-9C52-47A0-A68E-D1A36418E670}" srcOrd="0" destOrd="0" presId="urn:microsoft.com/office/officeart/2018/2/layout/IconCircleList"/>
    <dgm:cxn modelId="{3AC5AA6C-E798-42A4-8372-E73B69338221}" type="presParOf" srcId="{5FBFF60B-9C52-47A0-A68E-D1A36418E670}" destId="{75A14B19-0747-4261-8351-FAB0E91BC557}" srcOrd="0" destOrd="0" presId="urn:microsoft.com/office/officeart/2018/2/layout/IconCircleList"/>
    <dgm:cxn modelId="{CD8ACF8E-8773-498C-8970-BB32DFB1CFBB}" type="presParOf" srcId="{75A14B19-0747-4261-8351-FAB0E91BC557}" destId="{CDDCB386-C1C5-4B04-85CF-7037FDD00948}" srcOrd="0" destOrd="0" presId="urn:microsoft.com/office/officeart/2018/2/layout/IconCircleList"/>
    <dgm:cxn modelId="{F9A2BABE-A304-40C1-8AAD-70C70523A658}" type="presParOf" srcId="{75A14B19-0747-4261-8351-FAB0E91BC557}" destId="{7D460591-2222-428A-BB8D-AFB20459FAED}" srcOrd="1" destOrd="0" presId="urn:microsoft.com/office/officeart/2018/2/layout/IconCircleList"/>
    <dgm:cxn modelId="{FA5D562C-AF83-4D3E-B53B-4311BBF4F217}" type="presParOf" srcId="{75A14B19-0747-4261-8351-FAB0E91BC557}" destId="{DBF320BA-F549-40DC-8245-304FA22FD6E1}" srcOrd="2" destOrd="0" presId="urn:microsoft.com/office/officeart/2018/2/layout/IconCircleList"/>
    <dgm:cxn modelId="{353CCBBE-CF40-4E0E-9C59-06538F755694}" type="presParOf" srcId="{75A14B19-0747-4261-8351-FAB0E91BC557}" destId="{9297FB64-6A51-4C16-9EBC-C9E09AD193C1}" srcOrd="3" destOrd="0" presId="urn:microsoft.com/office/officeart/2018/2/layout/IconCircleList"/>
    <dgm:cxn modelId="{46C4C410-F1D4-4AAC-82DA-D45A11A5177D}" type="presParOf" srcId="{5FBFF60B-9C52-47A0-A68E-D1A36418E670}" destId="{0AEBF7A7-703C-4AA8-A54F-0A2ABF0F0981}" srcOrd="1" destOrd="0" presId="urn:microsoft.com/office/officeart/2018/2/layout/IconCircleList"/>
    <dgm:cxn modelId="{0962BAB2-320F-4BE6-ACC3-D31201758C53}" type="presParOf" srcId="{5FBFF60B-9C52-47A0-A68E-D1A36418E670}" destId="{FFCE6AB2-A2DA-4139-A193-0C5DD050831B}" srcOrd="2" destOrd="0" presId="urn:microsoft.com/office/officeart/2018/2/layout/IconCircleList"/>
    <dgm:cxn modelId="{08C45555-4C5D-43DD-9C68-D5600D4EE881}" type="presParOf" srcId="{FFCE6AB2-A2DA-4139-A193-0C5DD050831B}" destId="{E75DA6F9-72DA-4FBF-8819-64924BA80597}" srcOrd="0" destOrd="0" presId="urn:microsoft.com/office/officeart/2018/2/layout/IconCircleList"/>
    <dgm:cxn modelId="{43937D28-BB31-4DCF-9BB4-C96B51C5C879}" type="presParOf" srcId="{FFCE6AB2-A2DA-4139-A193-0C5DD050831B}" destId="{4EE559E3-39B6-4C5F-9CFA-704A744DBA32}" srcOrd="1" destOrd="0" presId="urn:microsoft.com/office/officeart/2018/2/layout/IconCircleList"/>
    <dgm:cxn modelId="{B2E83F7D-9669-47B0-A78A-985276807C7A}" type="presParOf" srcId="{FFCE6AB2-A2DA-4139-A193-0C5DD050831B}" destId="{CCAEFF6B-821A-443F-BB60-A34F601A9EDC}" srcOrd="2" destOrd="0" presId="urn:microsoft.com/office/officeart/2018/2/layout/IconCircleList"/>
    <dgm:cxn modelId="{47B1A653-3A26-4293-AC1A-B55430041030}" type="presParOf" srcId="{FFCE6AB2-A2DA-4139-A193-0C5DD050831B}" destId="{1AB2E619-1ADE-4BF4-A464-968BF23A70C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DCB386-C1C5-4B04-85CF-7037FDD00948}">
      <dsp:nvSpPr>
        <dsp:cNvPr id="0" name=""/>
        <dsp:cNvSpPr/>
      </dsp:nvSpPr>
      <dsp:spPr>
        <a:xfrm>
          <a:off x="47192" y="985131"/>
          <a:ext cx="768342" cy="76834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460591-2222-428A-BB8D-AFB20459FAED}">
      <dsp:nvSpPr>
        <dsp:cNvPr id="0" name=""/>
        <dsp:cNvSpPr/>
      </dsp:nvSpPr>
      <dsp:spPr>
        <a:xfrm>
          <a:off x="208544" y="1146483"/>
          <a:ext cx="445638" cy="44563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97FB64-6A51-4C16-9EBC-C9E09AD193C1}">
      <dsp:nvSpPr>
        <dsp:cNvPr id="0" name=""/>
        <dsp:cNvSpPr/>
      </dsp:nvSpPr>
      <dsp:spPr>
        <a:xfrm>
          <a:off x="980179" y="985131"/>
          <a:ext cx="1811093" cy="7683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anose="020B0604020202020204" pitchFamily="34" charset="0"/>
              <a:cs typeface="Helvetica" panose="020B0604020202020204" pitchFamily="34" charset="0"/>
            </a:rPr>
            <a:t>Model 3’s accuracy demonstrates the value of understanding competitor relationships. Businesses in competitive industries can use these insights to better anticipate market trends and refine strategies.</a:t>
          </a:r>
        </a:p>
      </dsp:txBody>
      <dsp:txXfrm>
        <a:off x="980179" y="985131"/>
        <a:ext cx="1811093" cy="768342"/>
      </dsp:txXfrm>
    </dsp:sp>
    <dsp:sp modelId="{E75DA6F9-72DA-4FBF-8819-64924BA80597}">
      <dsp:nvSpPr>
        <dsp:cNvPr id="0" name=""/>
        <dsp:cNvSpPr/>
      </dsp:nvSpPr>
      <dsp:spPr>
        <a:xfrm>
          <a:off x="3106842" y="985131"/>
          <a:ext cx="768342" cy="76834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559E3-39B6-4C5F-9CFA-704A744DBA32}">
      <dsp:nvSpPr>
        <dsp:cNvPr id="0" name=""/>
        <dsp:cNvSpPr/>
      </dsp:nvSpPr>
      <dsp:spPr>
        <a:xfrm>
          <a:off x="3268194" y="1146483"/>
          <a:ext cx="445638" cy="44563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B2E619-1ADE-4BF4-A464-968BF23A70C8}">
      <dsp:nvSpPr>
        <dsp:cNvPr id="0" name=""/>
        <dsp:cNvSpPr/>
      </dsp:nvSpPr>
      <dsp:spPr>
        <a:xfrm>
          <a:off x="4039829" y="985131"/>
          <a:ext cx="1811093" cy="7683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anose="020B0604020202020204" pitchFamily="34" charset="0"/>
              <a:cs typeface="Helvetica" panose="020B0604020202020204" pitchFamily="34" charset="0"/>
            </a:rPr>
            <a:t>Model 3 outperforms all others with the lowest error (Test RMSE ~ 0.56, within $1 of actual prices) and minimal overfitting, making it ideal for practical use.</a:t>
          </a:r>
        </a:p>
      </dsp:txBody>
      <dsp:txXfrm>
        <a:off x="4039829" y="985131"/>
        <a:ext cx="1811093" cy="7683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011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6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0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2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150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246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045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463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811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8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36CD75-2E92-4BD4-A3A2-4E7ED7FF5AEB}" type="datetimeFigureOut">
              <a:rPr lang="en-US" smtClean="0"/>
              <a:t>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39E0E2-AF4F-4372-BED9-C01877A9D2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224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14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5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Codes on papers">
            <a:extLst>
              <a:ext uri="{FF2B5EF4-FFF2-40B4-BE49-F238E27FC236}">
                <a16:creationId xmlns:a16="http://schemas.microsoft.com/office/drawing/2014/main" id="{D4716759-E5C6-13A9-5CD4-D2CF7D5A4D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608" b="12122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4490F-7A7B-FD4F-64E0-84D68EECC1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137434"/>
            <a:ext cx="7800660" cy="2091541"/>
          </a:xfrm>
        </p:spPr>
        <p:txBody>
          <a:bodyPr anchor="t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Apple Stock Price Prediction Visualizations and Results</a:t>
            </a:r>
            <a:br>
              <a:rPr lang="en-US" sz="4000" b="1" dirty="0">
                <a:solidFill>
                  <a:srgbClr val="FFFFFF"/>
                </a:solidFill>
              </a:rPr>
            </a:br>
            <a:br>
              <a:rPr lang="en-US" sz="4000" b="1" dirty="0">
                <a:solidFill>
                  <a:srgbClr val="FFFFFF"/>
                </a:solidFill>
              </a:rPr>
            </a:br>
            <a:r>
              <a:rPr lang="en-US" sz="2000" b="1" dirty="0">
                <a:solidFill>
                  <a:srgbClr val="FFFFF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by Emily Buchanan-Schnepp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2466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0383" y="0"/>
            <a:ext cx="8451607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374517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89959B-0912-6D49-A89B-0B866556F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637762"/>
            <a:ext cx="3524250" cy="5576770"/>
          </a:xfrm>
        </p:spPr>
        <p:txBody>
          <a:bodyPr anchor="t">
            <a:normAutofit/>
          </a:bodyPr>
          <a:lstStyle/>
          <a:p>
            <a:pPr algn="r"/>
            <a:br>
              <a:rPr lang="en-US" sz="5000" dirty="0">
                <a:solidFill>
                  <a:schemeClr val="bg1"/>
                </a:solidFill>
              </a:rPr>
            </a:br>
            <a:br>
              <a:rPr lang="en-US" sz="5000" dirty="0">
                <a:solidFill>
                  <a:schemeClr val="bg1"/>
                </a:solidFill>
              </a:rPr>
            </a:br>
            <a:br>
              <a:rPr lang="en-US" sz="5000" dirty="0">
                <a:solidFill>
                  <a:schemeClr val="bg1"/>
                </a:solidFill>
              </a:rPr>
            </a:br>
            <a:br>
              <a:rPr lang="en-US" sz="5000" dirty="0">
                <a:solidFill>
                  <a:schemeClr val="bg1"/>
                </a:solidFill>
              </a:rPr>
            </a:br>
            <a:br>
              <a:rPr lang="en-US" sz="5000" dirty="0">
                <a:solidFill>
                  <a:schemeClr val="bg1"/>
                </a:solidFill>
              </a:rPr>
            </a:br>
            <a:br>
              <a:rPr lang="en-US" sz="5000" dirty="0">
                <a:solidFill>
                  <a:schemeClr val="bg1"/>
                </a:solidFill>
              </a:rPr>
            </a:br>
            <a:r>
              <a:rPr lang="en-US" sz="5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733" y="643465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60F39-7960-284A-CF2F-9437DAFF2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732" y="850052"/>
            <a:ext cx="6390623" cy="5326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This project uses advanced learning models (LSTM) to predict Apple stock prices, training on data from 2008-2017 and evaluating performance on data from 2018-2021. </a:t>
            </a:r>
          </a:p>
          <a:p>
            <a:pPr marL="0" indent="0">
              <a:buNone/>
            </a:pPr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By integrating competitor data (Google stock performance), we explored how market dynamics between smartphone rivals influence stock prices. </a:t>
            </a:r>
          </a:p>
          <a:p>
            <a:pPr marL="0" indent="0">
              <a:buNone/>
            </a:pPr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These insights demonstrate the value of leveraging existing factors to improve accuracy and support businesses navigating competitive industries.</a:t>
            </a:r>
          </a:p>
        </p:txBody>
      </p:sp>
    </p:spTree>
    <p:extLst>
      <p:ext uri="{BB962C8B-B14F-4D97-AF65-F5344CB8AC3E}">
        <p14:creationId xmlns:p14="http://schemas.microsoft.com/office/powerpoint/2010/main" val="3580530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46542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9AECE31-7D7D-34B5-9306-576565D97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3"/>
            <a:ext cx="2910051" cy="55767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r"/>
            <a:b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r>
              <a:rPr lang="en-US" sz="5000" kern="12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Google and Apple Stock Prices Over Time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2118" y="0"/>
            <a:ext cx="752987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05664CF-E6BA-0D1C-B5F5-62C6AF71D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87417" y="637762"/>
            <a:ext cx="5297936" cy="2927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9976" y="4006121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84E03D-9929-F125-306A-BE17A71D9A13}"/>
              </a:ext>
            </a:extLst>
          </p:cNvPr>
          <p:cNvSpPr txBox="1"/>
          <p:nvPr/>
        </p:nvSpPr>
        <p:spPr>
          <a:xfrm>
            <a:off x="5439965" y="4212709"/>
            <a:ext cx="5605390" cy="20018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Before 2020, Google stock outperformed Apple’s. In 2020, Apple prices surpassed Google’s, showing competitor influence and justifying the inclusion of Google data. </a:t>
            </a:r>
          </a:p>
        </p:txBody>
      </p:sp>
    </p:spTree>
    <p:extLst>
      <p:ext uri="{BB962C8B-B14F-4D97-AF65-F5344CB8AC3E}">
        <p14:creationId xmlns:p14="http://schemas.microsoft.com/office/powerpoint/2010/main" val="3716355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46542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FE717D-B5C1-FD68-153F-DB63A654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3"/>
            <a:ext cx="2910051" cy="55767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r"/>
            <a:b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r>
              <a:rPr lang="en-US" sz="5000" kern="12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Model Overviews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2118" y="0"/>
            <a:ext cx="752987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Apple">
            <a:extLst>
              <a:ext uri="{FF2B5EF4-FFF2-40B4-BE49-F238E27FC236}">
                <a16:creationId xmlns:a16="http://schemas.microsoft.com/office/drawing/2014/main" id="{61073F02-7E4E-2CAB-45EC-634EC2996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2830" y="637762"/>
            <a:ext cx="2927110" cy="292711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9976" y="4006121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AC311A-D637-7D5B-8B27-9CB6ED46FDEA}"/>
              </a:ext>
            </a:extLst>
          </p:cNvPr>
          <p:cNvSpPr txBox="1"/>
          <p:nvPr/>
        </p:nvSpPr>
        <p:spPr>
          <a:xfrm>
            <a:off x="5439965" y="4212709"/>
            <a:ext cx="5605390" cy="20018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latin typeface="Helvetica" panose="020B0604020202020204" pitchFamily="34" charset="0"/>
                <a:cs typeface="Helvetica" panose="020B0604020202020204" pitchFamily="34" charset="0"/>
              </a:rPr>
              <a:t>Three models were tested to predict Apple’s future ‘Close’ price, each progressively increasing in complexity: </a:t>
            </a:r>
          </a:p>
          <a:p>
            <a:pPr marL="342900"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latin typeface="Helvetica" panose="020B0604020202020204" pitchFamily="34" charset="0"/>
                <a:cs typeface="Helvetica" panose="020B0604020202020204" pitchFamily="34" charset="0"/>
              </a:rPr>
              <a:t>Model 1: A baseline model using only Apple’s historic ‘Close’ price for prediction.</a:t>
            </a:r>
          </a:p>
          <a:p>
            <a:pPr marL="342900"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latin typeface="Helvetica" panose="020B0604020202020204" pitchFamily="34" charset="0"/>
                <a:cs typeface="Helvetica" panose="020B0604020202020204" pitchFamily="34" charset="0"/>
              </a:rPr>
              <a:t>Model 2: A more complex model using additional Apple-specific variables.</a:t>
            </a:r>
          </a:p>
          <a:p>
            <a:pPr marL="342900" lvl="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latin typeface="Helvetica" panose="020B0604020202020204" pitchFamily="34" charset="0"/>
                <a:cs typeface="Helvetica" panose="020B0604020202020204" pitchFamily="34" charset="0"/>
              </a:rPr>
              <a:t>Model 3: An advanced model integrating Google Stock data to account for competition.</a:t>
            </a:r>
          </a:p>
        </p:txBody>
      </p:sp>
    </p:spTree>
    <p:extLst>
      <p:ext uri="{BB962C8B-B14F-4D97-AF65-F5344CB8AC3E}">
        <p14:creationId xmlns:p14="http://schemas.microsoft.com/office/powerpoint/2010/main" val="3336638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A12067D-EF15-4E9F-AA63-B337CED7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96BA99-464E-4E7D-BA40-1DC3C7969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33425"/>
            <a:ext cx="12192002" cy="33975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46E69711-E747-42F0-9063-950BA7BAE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3360280" y="-1973720"/>
            <a:ext cx="5486400" cy="121770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DA5D6-6FF1-650F-D2F9-2455EDC61DBC}"/>
              </a:ext>
            </a:extLst>
          </p:cNvPr>
          <p:cNvSpPr txBox="1">
            <a:spLocks/>
          </p:cNvSpPr>
          <p:nvPr/>
        </p:nvSpPr>
        <p:spPr>
          <a:xfrm>
            <a:off x="384048" y="3789400"/>
            <a:ext cx="5807575" cy="2264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000" dirty="0"/>
              <a:t>Learning Curves</a:t>
            </a:r>
          </a:p>
        </p:txBody>
      </p:sp>
      <p:pic>
        <p:nvPicPr>
          <p:cNvPr id="4" name="Picture 2" descr="A graph of a graph&#10;&#10;Description automatically generated">
            <a:extLst>
              <a:ext uri="{FF2B5EF4-FFF2-40B4-BE49-F238E27FC236}">
                <a16:creationId xmlns:a16="http://schemas.microsoft.com/office/drawing/2014/main" id="{87F9AC67-056C-94BA-6A79-3E3C355F0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2752" y="573127"/>
            <a:ext cx="3420310" cy="262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graph of a graph&#10;&#10;Description automatically generated">
            <a:extLst>
              <a:ext uri="{FF2B5EF4-FFF2-40B4-BE49-F238E27FC236}">
                <a16:creationId xmlns:a16="http://schemas.microsoft.com/office/drawing/2014/main" id="{5307791C-C34C-E6F7-0397-5B789CCC4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97452" y="573996"/>
            <a:ext cx="3418046" cy="262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 graph of a graph&#10;&#10;Description automatically generated">
            <a:extLst>
              <a:ext uri="{FF2B5EF4-FFF2-40B4-BE49-F238E27FC236}">
                <a16:creationId xmlns:a16="http://schemas.microsoft.com/office/drawing/2014/main" id="{09BCA32F-66A9-F45F-2F4F-3C737333B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80910" y="573996"/>
            <a:ext cx="3418046" cy="262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49B42A-7DEC-1FF1-28EC-355CF3F7F60D}"/>
              </a:ext>
            </a:extLst>
          </p:cNvPr>
          <p:cNvSpPr txBox="1"/>
          <p:nvPr/>
        </p:nvSpPr>
        <p:spPr>
          <a:xfrm>
            <a:off x="6496424" y="3789399"/>
            <a:ext cx="4675159" cy="2382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Model 3 required more training due to added complexity, but achieved the best overall performance, demonstrating the value of integrating competitor data.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579AADB-A05D-428E-A1F8-99F0910EE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073128" y="6172201"/>
            <a:ext cx="118872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12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3" name="Rectangle 3082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6095990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13661-C84B-40B7-ACEF-7919E74A1FBF}"/>
              </a:ext>
            </a:extLst>
          </p:cNvPr>
          <p:cNvSpPr txBox="1">
            <a:spLocks/>
          </p:cNvSpPr>
          <p:nvPr/>
        </p:nvSpPr>
        <p:spPr>
          <a:xfrm>
            <a:off x="1155557" y="4551036"/>
            <a:ext cx="4284420" cy="168714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spcAft>
                <a:spcPts val="600"/>
              </a:spcAft>
            </a:pPr>
            <a:r>
              <a:rPr lang="en-US" sz="5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Line Graphs of Predicted vs Actual</a:t>
            </a:r>
          </a:p>
        </p:txBody>
      </p:sp>
      <p:pic>
        <p:nvPicPr>
          <p:cNvPr id="3078" name="Picture 6" descr="A graph with numbers and a line&#10;&#10;Description automatically generated">
            <a:extLst>
              <a:ext uri="{FF2B5EF4-FFF2-40B4-BE49-F238E27FC236}">
                <a16:creationId xmlns:a16="http://schemas.microsoft.com/office/drawing/2014/main" id="{6D5DCD01-8C48-3A94-F2D5-D79D37461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55557" y="1240926"/>
            <a:ext cx="4297680" cy="2976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5" name="Rectangle 3084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5990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A graph showing the value of a stock market&#10;&#10;Description automatically generated">
            <a:extLst>
              <a:ext uri="{FF2B5EF4-FFF2-40B4-BE49-F238E27FC236}">
                <a16:creationId xmlns:a16="http://schemas.microsoft.com/office/drawing/2014/main" id="{BAAFA876-61E2-D167-E350-1592F09848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98031" y="637762"/>
            <a:ext cx="2557656" cy="175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 graph showing the value of a stock market&#10;&#10;Description automatically generated">
            <a:extLst>
              <a:ext uri="{FF2B5EF4-FFF2-40B4-BE49-F238E27FC236}">
                <a16:creationId xmlns:a16="http://schemas.microsoft.com/office/drawing/2014/main" id="{63EDDAE2-5FEE-DBE8-A4D1-AD0F1BFAF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666522" y="2557023"/>
            <a:ext cx="2420674" cy="1664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0" name="Rectangle 3079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4650" y="4552052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84920D-BC07-9AE5-7DFB-F9D29C7BC79A}"/>
              </a:ext>
            </a:extLst>
          </p:cNvPr>
          <p:cNvSpPr txBox="1"/>
          <p:nvPr/>
        </p:nvSpPr>
        <p:spPr>
          <a:xfrm>
            <a:off x="6734649" y="4758638"/>
            <a:ext cx="4284420" cy="14558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Model 3 closely matches actual prices, especially in the short term, making it the most effective for real-world financial forecasting.</a:t>
            </a:r>
          </a:p>
        </p:txBody>
      </p:sp>
    </p:spTree>
    <p:extLst>
      <p:ext uri="{BB962C8B-B14F-4D97-AF65-F5344CB8AC3E}">
        <p14:creationId xmlns:p14="http://schemas.microsoft.com/office/powerpoint/2010/main" val="3338604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D2C3AB2-FDE9-270F-C2FF-C0EC9C72E7C7}"/>
              </a:ext>
            </a:extLst>
          </p:cNvPr>
          <p:cNvSpPr txBox="1"/>
          <p:nvPr/>
        </p:nvSpPr>
        <p:spPr>
          <a:xfrm>
            <a:off x="800100" y="3582293"/>
            <a:ext cx="4165795" cy="27386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dirty="0"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Model Results and Metrics</a:t>
            </a:r>
          </a:p>
        </p:txBody>
      </p: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D553F50E-1DB9-1304-55CF-733DDC6C9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User uploaded image">
            <a:extLst>
              <a:ext uri="{FF2B5EF4-FFF2-40B4-BE49-F238E27FC236}">
                <a16:creationId xmlns:a16="http://schemas.microsoft.com/office/drawing/2014/main" id="{2A85D1A1-436C-03BB-1B0A-6970D1639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02079" y="630157"/>
            <a:ext cx="8686800" cy="722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ser uploaded image">
            <a:extLst>
              <a:ext uri="{FF2B5EF4-FFF2-40B4-BE49-F238E27FC236}">
                <a16:creationId xmlns:a16="http://schemas.microsoft.com/office/drawing/2014/main" id="{76AEF460-7262-E666-0342-6BF6B788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02080" y="1626760"/>
            <a:ext cx="8686799" cy="722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ser uploaded image">
            <a:extLst>
              <a:ext uri="{FF2B5EF4-FFF2-40B4-BE49-F238E27FC236}">
                <a16:creationId xmlns:a16="http://schemas.microsoft.com/office/drawing/2014/main" id="{5D2DD46A-2E66-BBA0-93F2-F0880CF5B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02079" y="2569369"/>
            <a:ext cx="8686799" cy="60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09670" y="3307734"/>
            <a:ext cx="10459156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32" name="TextBox 8">
            <a:extLst>
              <a:ext uri="{FF2B5EF4-FFF2-40B4-BE49-F238E27FC236}">
                <a16:creationId xmlns:a16="http://schemas.microsoft.com/office/drawing/2014/main" id="{4855C481-1FD2-4FE6-C2CE-259A0D0473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024305"/>
              </p:ext>
            </p:extLst>
          </p:nvPr>
        </p:nvGraphicFramePr>
        <p:xfrm>
          <a:off x="5455685" y="3582294"/>
          <a:ext cx="5898115" cy="27386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206536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787284-22B3-D435-87DB-680335877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5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Conclusion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338C6-0596-F694-7E4D-76A12A50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This project highlights the importance of external factors, like competitor performance, in forecasting. For businesses, especially in tech, these models can support better decision-making, from investment strategies to understanding market dynamics.</a:t>
            </a:r>
          </a:p>
          <a:p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Including Google Data in Model 3 significantly improved prediction accuracy and reduced overfitting, showing how external marketing factors can enhance financial forecasting.</a:t>
            </a:r>
          </a:p>
        </p:txBody>
      </p:sp>
    </p:spTree>
    <p:extLst>
      <p:ext uri="{BB962C8B-B14F-4D97-AF65-F5344CB8AC3E}">
        <p14:creationId xmlns:p14="http://schemas.microsoft.com/office/powerpoint/2010/main" val="420658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495</TotalTime>
  <Words>378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Office Theme</vt:lpstr>
      <vt:lpstr>Apple Stock Price Prediction Visualizations and Results  by Emily Buchanan-Schnepp</vt:lpstr>
      <vt:lpstr>      Introduction</vt:lpstr>
      <vt:lpstr>   Google and Apple Stock Prices Over Time</vt:lpstr>
      <vt:lpstr>     Model Overviews</vt:lpstr>
      <vt:lpstr>PowerPoint Presentation</vt:lpstr>
      <vt:lpstr>PowerPoint Presentation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Emily Buchanan-Schnepp</dc:creator>
  <cp:lastModifiedBy>Emily Buchanan-Schnepp</cp:lastModifiedBy>
  <cp:revision>10</cp:revision>
  <dcterms:created xsi:type="dcterms:W3CDTF">2024-09-19T15:08:28Z</dcterms:created>
  <dcterms:modified xsi:type="dcterms:W3CDTF">2025-01-19T20:31:07Z</dcterms:modified>
</cp:coreProperties>
</file>